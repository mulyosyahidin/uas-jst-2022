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1"/>
  </p:notesMasterIdLst>
  <p:sldIdLst>
    <p:sldId id="256" r:id="rId2"/>
    <p:sldId id="258" r:id="rId3"/>
    <p:sldId id="259" r:id="rId4"/>
    <p:sldId id="306" r:id="rId5"/>
    <p:sldId id="307" r:id="rId6"/>
    <p:sldId id="308" r:id="rId7"/>
    <p:sldId id="309" r:id="rId8"/>
    <p:sldId id="262" r:id="rId9"/>
    <p:sldId id="280" r:id="rId10"/>
  </p:sldIdLst>
  <p:sldSz cx="9144000" cy="5143500" type="screen16x9"/>
  <p:notesSz cx="6858000" cy="9144000"/>
  <p:embeddedFontLst>
    <p:embeddedFont>
      <p:font typeface="Saira ExtraCondensed SemiBold" panose="020B0604020202020204" charset="0"/>
      <p:regular r:id="rId12"/>
      <p:bold r:id="rId13"/>
    </p:embeddedFont>
    <p:embeddedFont>
      <p:font typeface="Amatic SC" panose="020B0604020202020204" charset="-79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A42BFC-C0BC-4FAF-85ED-8CF83E0A1841}">
  <a:tblStyle styleId="{7EA42BFC-C0BC-4FAF-85ED-8CF83E0A18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d9a80511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d9a80511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6c698b0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56c698b0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176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255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813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32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6c698b07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56c698b07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5540b6adc3_2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5540b6adc3_2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639" y="1507984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8639" y="2419108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 flipH="1">
            <a:off x="4573775" y="2569875"/>
            <a:ext cx="3394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 flipH="1">
            <a:off x="5303675" y="3164175"/>
            <a:ext cx="19344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7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603475" y="2557800"/>
            <a:ext cx="3133200" cy="17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ctrTitle"/>
          </p:nvPr>
        </p:nvSpPr>
        <p:spPr>
          <a:xfrm>
            <a:off x="5165499" y="1996137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 ">
  <p:cSld name="CUSTOM_7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 flipH="1">
            <a:off x="1450349" y="2176794"/>
            <a:ext cx="3867600" cy="17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 flipH="1">
            <a:off x="1450372" y="1706425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6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ctrTitle"/>
          </p:nvPr>
        </p:nvSpPr>
        <p:spPr>
          <a:xfrm>
            <a:off x="619900" y="165229"/>
            <a:ext cx="79041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6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ctrTitle"/>
          </p:nvPr>
        </p:nvSpPr>
        <p:spPr>
          <a:xfrm>
            <a:off x="1413407" y="1176850"/>
            <a:ext cx="42093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 flipH="1">
            <a:off x="1413407" y="2074700"/>
            <a:ext cx="4423200" cy="1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12">
    <p:bg>
      <p:bgPr>
        <a:noFill/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○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■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○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■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○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uli"/>
              <a:buChar char="■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7" r:id="rId5"/>
    <p:sldLayoutId id="2147483660" r:id="rId6"/>
    <p:sldLayoutId id="214748366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aggle.com/datasets/moltean/fruit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0"/>
          <p:cNvGrpSpPr/>
          <p:nvPr/>
        </p:nvGrpSpPr>
        <p:grpSpPr>
          <a:xfrm>
            <a:off x="5270800" y="-17650"/>
            <a:ext cx="3873050" cy="5165300"/>
            <a:chOff x="5270800" y="-17650"/>
            <a:chExt cx="3873050" cy="5165300"/>
          </a:xfrm>
        </p:grpSpPr>
        <p:sp>
          <p:nvSpPr>
            <p:cNvPr id="93" name="Google Shape;93;p20"/>
            <p:cNvSpPr/>
            <p:nvPr/>
          </p:nvSpPr>
          <p:spPr>
            <a:xfrm>
              <a:off x="5270800" y="-17650"/>
              <a:ext cx="2198752" cy="5161174"/>
            </a:xfrm>
            <a:custGeom>
              <a:avLst/>
              <a:gdLst/>
              <a:ahLst/>
              <a:cxnLst/>
              <a:rect l="l" t="t" r="r" b="b"/>
              <a:pathLst>
                <a:path w="89226" h="209442" extrusionOk="0">
                  <a:moveTo>
                    <a:pt x="89226" y="0"/>
                  </a:moveTo>
                  <a:lnTo>
                    <a:pt x="0" y="62"/>
                  </a:lnTo>
                  <a:cubicBezTo>
                    <a:pt x="0" y="10531"/>
                    <a:pt x="14734" y="10531"/>
                    <a:pt x="14734" y="21000"/>
                  </a:cubicBezTo>
                  <a:cubicBezTo>
                    <a:pt x="14734" y="31469"/>
                    <a:pt x="0" y="31469"/>
                    <a:pt x="0" y="41938"/>
                  </a:cubicBezTo>
                  <a:cubicBezTo>
                    <a:pt x="0" y="52391"/>
                    <a:pt x="14734" y="52391"/>
                    <a:pt x="14734" y="62860"/>
                  </a:cubicBezTo>
                  <a:cubicBezTo>
                    <a:pt x="14734" y="73345"/>
                    <a:pt x="0" y="73345"/>
                    <a:pt x="0" y="83814"/>
                  </a:cubicBezTo>
                  <a:cubicBezTo>
                    <a:pt x="0" y="94283"/>
                    <a:pt x="14734" y="94283"/>
                    <a:pt x="14734" y="104752"/>
                  </a:cubicBezTo>
                  <a:cubicBezTo>
                    <a:pt x="14734" y="115221"/>
                    <a:pt x="0" y="115221"/>
                    <a:pt x="0" y="125690"/>
                  </a:cubicBezTo>
                  <a:cubicBezTo>
                    <a:pt x="0" y="136159"/>
                    <a:pt x="14734" y="136159"/>
                    <a:pt x="14734" y="146628"/>
                  </a:cubicBezTo>
                  <a:cubicBezTo>
                    <a:pt x="14734" y="157097"/>
                    <a:pt x="0" y="157097"/>
                    <a:pt x="0" y="167566"/>
                  </a:cubicBezTo>
                  <a:cubicBezTo>
                    <a:pt x="0" y="178035"/>
                    <a:pt x="14734" y="178035"/>
                    <a:pt x="14734" y="188504"/>
                  </a:cubicBezTo>
                  <a:cubicBezTo>
                    <a:pt x="14734" y="198972"/>
                    <a:pt x="0" y="198972"/>
                    <a:pt x="0" y="209441"/>
                  </a:cubicBezTo>
                  <a:lnTo>
                    <a:pt x="89226" y="209441"/>
                  </a:lnTo>
                  <a:lnTo>
                    <a:pt x="89226" y="0"/>
                  </a:lnTo>
                  <a:close/>
                </a:path>
              </a:pathLst>
            </a:custGeom>
            <a:solidFill>
              <a:srgbClr val="FEB5B9">
                <a:alpha val="38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0"/>
            <p:cNvSpPr/>
            <p:nvPr/>
          </p:nvSpPr>
          <p:spPr>
            <a:xfrm>
              <a:off x="7469550" y="-13550"/>
              <a:ext cx="1674300" cy="5161200"/>
            </a:xfrm>
            <a:prstGeom prst="rect">
              <a:avLst/>
            </a:prstGeom>
            <a:solidFill>
              <a:srgbClr val="FEB5B9">
                <a:alpha val="38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20"/>
          <p:cNvSpPr/>
          <p:nvPr/>
        </p:nvSpPr>
        <p:spPr>
          <a:xfrm>
            <a:off x="4267200" y="1166375"/>
            <a:ext cx="4007400" cy="2868000"/>
          </a:xfrm>
          <a:prstGeom prst="round2DiagRect">
            <a:avLst>
              <a:gd name="adj1" fmla="val 2822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ubTitle" idx="1"/>
          </p:nvPr>
        </p:nvSpPr>
        <p:spPr>
          <a:xfrm flipH="1">
            <a:off x="5303675" y="3164175"/>
            <a:ext cx="19344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accent1"/>
                </a:solidFill>
              </a:rPr>
              <a:t>Kelompok 8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ctrTitle"/>
          </p:nvPr>
        </p:nvSpPr>
        <p:spPr>
          <a:xfrm flipH="1">
            <a:off x="4573775" y="2569875"/>
            <a:ext cx="3394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accent1"/>
                </a:solidFill>
              </a:rPr>
              <a:t>TUGAS UAS JST</a:t>
            </a:r>
            <a:endParaRPr dirty="0">
              <a:solidFill>
                <a:schemeClr val="accent1"/>
              </a:solidFill>
              <a:latin typeface="Saira ExtraCondensed SemiBold"/>
              <a:ea typeface="Saira ExtraCondensed SemiBold"/>
              <a:cs typeface="Saira ExtraCondensed SemiBold"/>
              <a:sym typeface="Saira Extra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4982">
            <a:off x="-412275" y="553478"/>
            <a:ext cx="1692553" cy="1616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175" y="1106800"/>
            <a:ext cx="1692550" cy="21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>
            <a:spLocks noGrp="1"/>
          </p:cNvSpPr>
          <p:nvPr>
            <p:ph type="subTitle" idx="1"/>
          </p:nvPr>
        </p:nvSpPr>
        <p:spPr>
          <a:xfrm>
            <a:off x="4603475" y="2557800"/>
            <a:ext cx="3133200" cy="17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smtClean="0"/>
              <a:t>Martin Mulyo </a:t>
            </a:r>
            <a:r>
              <a:rPr lang="en-GB" dirty="0" err="1" smtClean="0"/>
              <a:t>Syahidin</a:t>
            </a:r>
            <a:endParaRPr lang="en-GB" dirty="0" smtClean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err="1" smtClean="0"/>
              <a:t>Astuzi</a:t>
            </a:r>
            <a:r>
              <a:rPr lang="en-GB" dirty="0" smtClean="0"/>
              <a:t> </a:t>
            </a:r>
            <a:r>
              <a:rPr lang="en-GB" dirty="0" err="1" smtClean="0"/>
              <a:t>Zahroh</a:t>
            </a:r>
            <a:endParaRPr lang="en-GB" dirty="0" smtClean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err="1" smtClean="0"/>
              <a:t>Faris</a:t>
            </a:r>
            <a:endParaRPr lang="en-GB" dirty="0" smtClean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smtClean="0"/>
              <a:t>M. Pandu </a:t>
            </a:r>
            <a:r>
              <a:rPr lang="en-GB" dirty="0" err="1" smtClean="0"/>
              <a:t>Patana</a:t>
            </a:r>
            <a:endParaRPr lang="en-GB" dirty="0" smtClean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err="1" smtClean="0"/>
              <a:t>Shaddam</a:t>
            </a:r>
            <a:r>
              <a:rPr lang="en-GB" dirty="0" smtClean="0"/>
              <a:t> M. Iqbal</a:t>
            </a:r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err="1" smtClean="0"/>
              <a:t>Ninda</a:t>
            </a:r>
            <a:r>
              <a:rPr lang="en-GB" dirty="0" smtClean="0"/>
              <a:t> </a:t>
            </a:r>
            <a:r>
              <a:rPr lang="en-GB" dirty="0" err="1" smtClean="0"/>
              <a:t>Puji</a:t>
            </a:r>
            <a:endParaRPr lang="en-GB" dirty="0" smtClean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GB" dirty="0" err="1" smtClean="0"/>
              <a:t>Refki</a:t>
            </a:r>
            <a:r>
              <a:rPr lang="en-GB" dirty="0" smtClean="0"/>
              <a:t> </a:t>
            </a:r>
            <a:r>
              <a:rPr lang="en-GB" dirty="0" err="1" smtClean="0"/>
              <a:t>Jorgi</a:t>
            </a:r>
            <a:r>
              <a:rPr lang="en-GB" dirty="0" smtClean="0"/>
              <a:t> </a:t>
            </a:r>
            <a:r>
              <a:rPr lang="en-GB" dirty="0" err="1" smtClean="0"/>
              <a:t>Pradana</a:t>
            </a:r>
            <a:endParaRPr dirty="0"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540447">
            <a:off x="-1004957" y="1803753"/>
            <a:ext cx="5788218" cy="310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6692300" y="1010125"/>
            <a:ext cx="994800" cy="978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ctrTitle"/>
          </p:nvPr>
        </p:nvSpPr>
        <p:spPr>
          <a:xfrm>
            <a:off x="5165499" y="1996137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Anggota</a:t>
            </a:r>
            <a:endParaRPr dirty="0"/>
          </a:p>
        </p:txBody>
      </p:sp>
      <p:sp>
        <p:nvSpPr>
          <p:cNvPr id="136" name="Google Shape;136;p22"/>
          <p:cNvSpPr/>
          <p:nvPr/>
        </p:nvSpPr>
        <p:spPr>
          <a:xfrm flipH="1">
            <a:off x="6783325" y="0"/>
            <a:ext cx="2360675" cy="1353100"/>
          </a:xfrm>
          <a:custGeom>
            <a:avLst/>
            <a:gdLst/>
            <a:ahLst/>
            <a:cxnLst/>
            <a:rect l="l" t="t" r="r" b="b"/>
            <a:pathLst>
              <a:path w="94427" h="54124" extrusionOk="0">
                <a:moveTo>
                  <a:pt x="0" y="0"/>
                </a:moveTo>
                <a:lnTo>
                  <a:pt x="0" y="54100"/>
                </a:lnTo>
                <a:cubicBezTo>
                  <a:pt x="65" y="54116"/>
                  <a:pt x="128" y="54123"/>
                  <a:pt x="192" y="54123"/>
                </a:cubicBezTo>
                <a:cubicBezTo>
                  <a:pt x="1070" y="54123"/>
                  <a:pt x="1802" y="52676"/>
                  <a:pt x="2619" y="50957"/>
                </a:cubicBezTo>
                <a:cubicBezTo>
                  <a:pt x="4944" y="46120"/>
                  <a:pt x="9249" y="42216"/>
                  <a:pt x="14479" y="40784"/>
                </a:cubicBezTo>
                <a:cubicBezTo>
                  <a:pt x="19725" y="39352"/>
                  <a:pt x="25634" y="40227"/>
                  <a:pt x="30373" y="37551"/>
                </a:cubicBezTo>
                <a:cubicBezTo>
                  <a:pt x="35775" y="34506"/>
                  <a:pt x="37944" y="27869"/>
                  <a:pt x="42331" y="23490"/>
                </a:cubicBezTo>
                <a:cubicBezTo>
                  <a:pt x="45809" y="20011"/>
                  <a:pt x="50565" y="18104"/>
                  <a:pt x="55336" y="16926"/>
                </a:cubicBezTo>
                <a:cubicBezTo>
                  <a:pt x="60116" y="15747"/>
                  <a:pt x="65027" y="15215"/>
                  <a:pt x="69799" y="14020"/>
                </a:cubicBezTo>
                <a:cubicBezTo>
                  <a:pt x="79072" y="11688"/>
                  <a:pt x="87674" y="6769"/>
                  <a:pt x="944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6735" y="1073425"/>
            <a:ext cx="725928" cy="851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DATASET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1" y="1775469"/>
            <a:ext cx="6907901" cy="2470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	Dataset </a:t>
            </a:r>
            <a:r>
              <a:rPr lang="en-US" dirty="0"/>
              <a:t>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dataset </a:t>
            </a:r>
            <a:r>
              <a:rPr lang="en-US" b="1" dirty="0"/>
              <a:t>Fruit 360</a:t>
            </a:r>
            <a:r>
              <a:rPr lang="en-US" dirty="0"/>
              <a:t> yang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berjudul</a:t>
            </a:r>
            <a:r>
              <a:rPr lang="en-US" dirty="0" smtClean="0"/>
              <a:t> </a:t>
            </a:r>
            <a:r>
              <a:rPr lang="en-US" b="1" dirty="0"/>
              <a:t>“Fruit recognition from images using deep learning”</a:t>
            </a:r>
            <a:r>
              <a:rPr lang="en-US" dirty="0"/>
              <a:t> yang </a:t>
            </a:r>
            <a:r>
              <a:rPr lang="en-US" dirty="0" err="1"/>
              <a:t>dipublikasikan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Horea</a:t>
            </a:r>
            <a:r>
              <a:rPr lang="en-US" dirty="0"/>
              <a:t> </a:t>
            </a:r>
            <a:r>
              <a:rPr lang="en-US" dirty="0" err="1"/>
              <a:t>Musan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Mihai </a:t>
            </a:r>
            <a:r>
              <a:rPr lang="en-US" dirty="0" err="1"/>
              <a:t>Oltean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2018.</a:t>
            </a:r>
            <a:endParaRPr lang="en-US" dirty="0"/>
          </a:p>
          <a:p>
            <a:r>
              <a:rPr lang="en-US" dirty="0" smtClean="0"/>
              <a:t>	Dataset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di website kaggle.com (</a:t>
            </a:r>
            <a:r>
              <a:rPr lang="en-US" u="sng" dirty="0">
                <a:hlinkClick r:id="rId4"/>
              </a:rPr>
              <a:t>https://www.kaggle.com/datasets/moltean/fruits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  gratis </a:t>
            </a:r>
            <a:r>
              <a:rPr lang="en-US" dirty="0" err="1"/>
              <a:t>untuk</a:t>
            </a:r>
            <a:r>
              <a:rPr lang="en-US" dirty="0"/>
              <a:t> di download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 smtClean="0"/>
              <a:t>	Dataset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90.483 </a:t>
            </a:r>
            <a:r>
              <a:rPr lang="en-US" dirty="0" err="1"/>
              <a:t>gambar</a:t>
            </a:r>
            <a:r>
              <a:rPr lang="en-US" dirty="0"/>
              <a:t> yang </a:t>
            </a:r>
            <a:r>
              <a:rPr lang="en-US" dirty="0" err="1"/>
              <a:t>terbagi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131 </a:t>
            </a:r>
            <a:r>
              <a:rPr lang="en-US" dirty="0" err="1"/>
              <a:t>kelas</a:t>
            </a:r>
            <a:r>
              <a:rPr lang="en-US" dirty="0"/>
              <a:t>.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jagung</a:t>
            </a:r>
            <a:r>
              <a:rPr lang="en-US" dirty="0"/>
              <a:t>, </a:t>
            </a:r>
            <a:r>
              <a:rPr lang="en-US" dirty="0" err="1"/>
              <a:t>leci</a:t>
            </a:r>
            <a:r>
              <a:rPr lang="en-US" dirty="0"/>
              <a:t>, </a:t>
            </a:r>
            <a:r>
              <a:rPr lang="en-US" dirty="0" err="1"/>
              <a:t>salak</a:t>
            </a:r>
            <a:r>
              <a:rPr lang="en-US" dirty="0"/>
              <a:t>, strawberry, blueberry, </a:t>
            </a:r>
            <a:r>
              <a:rPr lang="en-US" dirty="0" err="1"/>
              <a:t>semangka</a:t>
            </a:r>
            <a:r>
              <a:rPr lang="en-US" dirty="0"/>
              <a:t>, </a:t>
            </a:r>
            <a:r>
              <a:rPr lang="en-US" dirty="0" err="1"/>
              <a:t>apel</a:t>
            </a:r>
            <a:r>
              <a:rPr lang="en-US" dirty="0"/>
              <a:t>, </a:t>
            </a:r>
            <a:r>
              <a:rPr lang="en-US" dirty="0" err="1"/>
              <a:t>pisang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lain-lain.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100x100 </a:t>
            </a:r>
            <a:r>
              <a:rPr lang="en-US" dirty="0" err="1"/>
              <a:t>piksel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 smtClean="0"/>
              <a:t>	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5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Jagung</a:t>
            </a:r>
            <a:r>
              <a:rPr lang="en-US" dirty="0"/>
              <a:t>, </a:t>
            </a:r>
            <a:r>
              <a:rPr lang="en-US" dirty="0" err="1"/>
              <a:t>Jambu</a:t>
            </a:r>
            <a:r>
              <a:rPr lang="en-US" dirty="0"/>
              <a:t> </a:t>
            </a:r>
            <a:r>
              <a:rPr lang="en-US" dirty="0" err="1"/>
              <a:t>Biji</a:t>
            </a:r>
            <a:r>
              <a:rPr lang="en-US" dirty="0"/>
              <a:t>, </a:t>
            </a:r>
            <a:r>
              <a:rPr lang="en-US" dirty="0" err="1"/>
              <a:t>Leci</a:t>
            </a:r>
            <a:r>
              <a:rPr lang="en-US" dirty="0"/>
              <a:t>, </a:t>
            </a:r>
            <a:r>
              <a:rPr lang="en-US" dirty="0" err="1"/>
              <a:t>Salak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Semangka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CNN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1" y="1775469"/>
            <a:ext cx="6907901" cy="2470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	CNN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deep learning yang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proses </a:t>
            </a:r>
            <a:r>
              <a:rPr lang="en-US" dirty="0" err="1"/>
              <a:t>pembelajaran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ekstraksi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beresolusi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model </a:t>
            </a:r>
            <a:r>
              <a:rPr lang="en-US" dirty="0" err="1"/>
              <a:t>distribusi</a:t>
            </a:r>
            <a:r>
              <a:rPr lang="en-US" dirty="0"/>
              <a:t> non-</a:t>
            </a:r>
            <a:r>
              <a:rPr lang="en-US" dirty="0" err="1"/>
              <a:t>parametrik</a:t>
            </a:r>
            <a:r>
              <a:rPr lang="en-US" dirty="0" smtClean="0"/>
              <a:t>.</a:t>
            </a:r>
          </a:p>
          <a:p>
            <a:r>
              <a:rPr lang="en-US" dirty="0" smtClean="0"/>
              <a:t>	CNN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proses </a:t>
            </a:r>
            <a:r>
              <a:rPr lang="en-US" dirty="0" err="1"/>
              <a:t>konvolusi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menggerakkan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kernel </a:t>
            </a:r>
            <a:r>
              <a:rPr lang="en-US" dirty="0" err="1"/>
              <a:t>konvolusi</a:t>
            </a:r>
            <a:r>
              <a:rPr lang="en-US" dirty="0"/>
              <a:t> (filter)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,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representatif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perkalian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filter yang </a:t>
            </a:r>
            <a:r>
              <a:rPr lang="en-US" dirty="0" err="1"/>
              <a:t>digunakan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644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CNN (2)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1" y="1775469"/>
            <a:ext cx="6907901" cy="2470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	CNN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convolutional layer, pooling layer,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fully connected layer</a:t>
            </a:r>
            <a:r>
              <a:rPr lang="en-US" dirty="0"/>
              <a:t>. Convolutional layer </a:t>
            </a:r>
            <a:r>
              <a:rPr lang="en-US" dirty="0" err="1"/>
              <a:t>merupakan</a:t>
            </a:r>
            <a:r>
              <a:rPr lang="en-US" dirty="0"/>
              <a:t> layer inti </a:t>
            </a:r>
            <a:r>
              <a:rPr lang="en-US" dirty="0" err="1"/>
              <a:t>dimana</a:t>
            </a:r>
            <a:r>
              <a:rPr lang="en-US" dirty="0"/>
              <a:t> proses </a:t>
            </a:r>
            <a:r>
              <a:rPr lang="en-US" dirty="0" err="1"/>
              <a:t>komputasi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.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layer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input </a:t>
            </a:r>
            <a:r>
              <a:rPr lang="en-US" dirty="0" err="1"/>
              <a:t>dalam</a:t>
            </a:r>
            <a:r>
              <a:rPr lang="en-US" dirty="0"/>
              <a:t> filter / kernel, </a:t>
            </a:r>
            <a:r>
              <a:rPr lang="en-US" dirty="0" err="1"/>
              <a:t>dan</a:t>
            </a:r>
            <a:r>
              <a:rPr lang="en-US" dirty="0"/>
              <a:t> feature map.</a:t>
            </a:r>
            <a:endParaRPr lang="en-US" dirty="0"/>
          </a:p>
          <a:p>
            <a:r>
              <a:rPr lang="en-US" dirty="0" smtClean="0"/>
              <a:t>	Pooling </a:t>
            </a:r>
            <a:r>
              <a:rPr lang="en-US" dirty="0"/>
              <a:t>layer </a:t>
            </a:r>
            <a:r>
              <a:rPr lang="en-US" dirty="0" err="1"/>
              <a:t>merupakan</a:t>
            </a:r>
            <a:r>
              <a:rPr lang="en-US" dirty="0"/>
              <a:t> layer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downsampling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parameter. Pooling layer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ekstraksi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yang </a:t>
            </a:r>
            <a:r>
              <a:rPr lang="en-US" dirty="0" err="1"/>
              <a:t>dominan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2 </a:t>
            </a:r>
            <a:r>
              <a:rPr lang="en-US" dirty="0" err="1"/>
              <a:t>jenis</a:t>
            </a:r>
            <a:r>
              <a:rPr lang="en-US" dirty="0"/>
              <a:t> pooling layer yang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i="1" dirty="0"/>
              <a:t>max pooling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average pooling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	Fully </a:t>
            </a:r>
            <a:r>
              <a:rPr lang="en-US" dirty="0"/>
              <a:t>connected layer </a:t>
            </a:r>
            <a:r>
              <a:rPr lang="en-US" dirty="0" err="1"/>
              <a:t>merupakan</a:t>
            </a:r>
            <a:r>
              <a:rPr lang="en-US" dirty="0"/>
              <a:t> layer yang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i="1" dirty="0"/>
              <a:t>reshape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feature map yang </a:t>
            </a:r>
            <a:r>
              <a:rPr lang="en-US" dirty="0" err="1"/>
              <a:t>dihasilkan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convolutional </a:t>
            </a:r>
            <a:r>
              <a:rPr lang="en-US" dirty="0" err="1"/>
              <a:t>dan</a:t>
            </a:r>
            <a:r>
              <a:rPr lang="en-US" dirty="0"/>
              <a:t> pooling layer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array multi </a:t>
            </a:r>
            <a:r>
              <a:rPr lang="en-US" dirty="0" err="1"/>
              <a:t>dimensi</a:t>
            </a:r>
            <a:r>
              <a:rPr lang="en-US" dirty="0"/>
              <a:t>.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vektor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input </a:t>
            </a:r>
            <a:r>
              <a:rPr lang="en-US" dirty="0" err="1"/>
              <a:t>pada</a:t>
            </a:r>
            <a:r>
              <a:rPr lang="en-US" dirty="0"/>
              <a:t> layer fully connected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Pada</a:t>
            </a:r>
            <a:r>
              <a:rPr lang="en-US" dirty="0"/>
              <a:t> layer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activation function </a:t>
            </a:r>
            <a:r>
              <a:rPr lang="en-US" dirty="0" err="1"/>
              <a:t>softmax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246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vgg16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2" y="1515301"/>
            <a:ext cx="6907901" cy="15469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	VGG16 </a:t>
            </a:r>
            <a:r>
              <a:rPr lang="en-US" dirty="0" err="1"/>
              <a:t>merupakan</a:t>
            </a:r>
            <a:r>
              <a:rPr lang="en-US" dirty="0"/>
              <a:t> model CNN yang </a:t>
            </a:r>
            <a:r>
              <a:rPr lang="en-US" dirty="0" err="1"/>
              <a:t>memanfaatkan</a:t>
            </a:r>
            <a:r>
              <a:rPr lang="en-US" dirty="0"/>
              <a:t> convolutional layer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convolutional filter yang </a:t>
            </a:r>
            <a:r>
              <a:rPr lang="en-US" dirty="0" err="1"/>
              <a:t>kecil</a:t>
            </a:r>
            <a:r>
              <a:rPr lang="en-US" dirty="0"/>
              <a:t> (3×3).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convolutional filter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kedalaman</a:t>
            </a:r>
            <a:r>
              <a:rPr lang="en-US" dirty="0"/>
              <a:t> neural network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ditambah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convolutional layer.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9341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4" y="923769"/>
            <a:ext cx="3205711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Dataset yang digunakan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2" y="1515301"/>
            <a:ext cx="6907901" cy="18071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Dataset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terdiri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1.144 data training </a:t>
            </a:r>
            <a:r>
              <a:rPr lang="en-US" dirty="0" err="1" smtClean="0"/>
              <a:t>dan</a:t>
            </a:r>
            <a:r>
              <a:rPr lang="en-US" dirty="0" smtClean="0"/>
              <a:t> 286 data </a:t>
            </a:r>
            <a:r>
              <a:rPr lang="en-US" dirty="0" err="1" smtClean="0"/>
              <a:t>validasi</a:t>
            </a:r>
            <a:r>
              <a:rPr lang="en-US" dirty="0" smtClean="0"/>
              <a:t>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76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50" y="-1453575"/>
            <a:ext cx="7904099" cy="37129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>
            <a:spLocks noGrp="1"/>
          </p:cNvSpPr>
          <p:nvPr>
            <p:ph type="ctrTitle"/>
          </p:nvPr>
        </p:nvSpPr>
        <p:spPr>
          <a:xfrm>
            <a:off x="619900" y="165229"/>
            <a:ext cx="79041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LETS GO CODE</a:t>
            </a:r>
            <a:endParaRPr dirty="0"/>
          </a:p>
        </p:txBody>
      </p:sp>
      <p:sp>
        <p:nvSpPr>
          <p:cNvPr id="196" name="Google Shape;196;p26"/>
          <p:cNvSpPr txBox="1"/>
          <p:nvPr/>
        </p:nvSpPr>
        <p:spPr>
          <a:xfrm>
            <a:off x="6700125" y="3106325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Mercury is the smallest planet in our Solar System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811250" y="3106325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Neptune is the fourth-largest planet in our Solar System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6700125" y="268680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MERCURY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811250" y="268680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NEPTUNE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4737175" y="380415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Despite being red, Mars is a cold place, not hot. It’s full of iron oxide dust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4737167" y="3391388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MARS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2774208" y="3391388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JUPITER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2774200" y="380415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It’s a gas giant and the biggest planet in our Solar System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04" name="Google Shape;204;p26"/>
          <p:cNvCxnSpPr/>
          <p:nvPr/>
        </p:nvCxnSpPr>
        <p:spPr>
          <a:xfrm rot="-5400000">
            <a:off x="1339250" y="1854450"/>
            <a:ext cx="1105800" cy="558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6"/>
          <p:cNvCxnSpPr>
            <a:stCxn id="202" idx="0"/>
          </p:cNvCxnSpPr>
          <p:nvPr/>
        </p:nvCxnSpPr>
        <p:spPr>
          <a:xfrm rot="-5400000">
            <a:off x="3303558" y="2446688"/>
            <a:ext cx="1216800" cy="672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6"/>
          <p:cNvCxnSpPr>
            <a:stCxn id="201" idx="0"/>
          </p:cNvCxnSpPr>
          <p:nvPr/>
        </p:nvCxnSpPr>
        <p:spPr>
          <a:xfrm rot="5400000" flipH="1">
            <a:off x="4582217" y="2434988"/>
            <a:ext cx="1222500" cy="690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6"/>
          <p:cNvCxnSpPr>
            <a:stCxn id="198" idx="0"/>
          </p:cNvCxnSpPr>
          <p:nvPr/>
        </p:nvCxnSpPr>
        <p:spPr>
          <a:xfrm rot="5400000" flipH="1">
            <a:off x="6622125" y="1807350"/>
            <a:ext cx="1239000" cy="519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44"/>
          <p:cNvPicPr preferRelativeResize="0"/>
          <p:nvPr/>
        </p:nvPicPr>
        <p:blipFill rotWithShape="1">
          <a:blip r:embed="rId3">
            <a:alphaModFix/>
          </a:blip>
          <a:srcRect l="-1684" t="-510" r="48535" b="510"/>
          <a:stretch/>
        </p:blipFill>
        <p:spPr>
          <a:xfrm>
            <a:off x="4305325" y="0"/>
            <a:ext cx="48386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4"/>
          <p:cNvSpPr/>
          <p:nvPr/>
        </p:nvSpPr>
        <p:spPr>
          <a:xfrm>
            <a:off x="1557057" y="3991200"/>
            <a:ext cx="1770900" cy="612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4"/>
          <p:cNvSpPr txBox="1">
            <a:spLocks noGrp="1"/>
          </p:cNvSpPr>
          <p:nvPr>
            <p:ph type="ctrTitle"/>
          </p:nvPr>
        </p:nvSpPr>
        <p:spPr>
          <a:xfrm>
            <a:off x="1413407" y="1176850"/>
            <a:ext cx="42093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THANKS</a:t>
            </a:r>
            <a:endParaRPr/>
          </a:p>
        </p:txBody>
      </p:sp>
      <p:sp>
        <p:nvSpPr>
          <p:cNvPr id="843" name="Google Shape;843;p44"/>
          <p:cNvSpPr txBox="1">
            <a:spLocks noGrp="1"/>
          </p:cNvSpPr>
          <p:nvPr>
            <p:ph type="subTitle" idx="1"/>
          </p:nvPr>
        </p:nvSpPr>
        <p:spPr>
          <a:xfrm flipH="1">
            <a:off x="1413407" y="2074700"/>
            <a:ext cx="4423200" cy="1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rPr>
              <a:t>Does anyone have any questions?</a:t>
            </a:r>
            <a:endParaRPr>
              <a:solidFill>
                <a:schemeClr val="accent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addyouremail@freepik.com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yourcompany.com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4" name="Google Shape;844;p44"/>
          <p:cNvGrpSpPr/>
          <p:nvPr/>
        </p:nvGrpSpPr>
        <p:grpSpPr>
          <a:xfrm>
            <a:off x="1659003" y="4131812"/>
            <a:ext cx="410794" cy="331070"/>
            <a:chOff x="231525" y="3297000"/>
            <a:chExt cx="854575" cy="688725"/>
          </a:xfrm>
        </p:grpSpPr>
        <p:sp>
          <p:nvSpPr>
            <p:cNvPr id="845" name="Google Shape;845;p44"/>
            <p:cNvSpPr/>
            <p:nvPr/>
          </p:nvSpPr>
          <p:spPr>
            <a:xfrm>
              <a:off x="848325" y="3355725"/>
              <a:ext cx="205500" cy="154950"/>
            </a:xfrm>
            <a:custGeom>
              <a:avLst/>
              <a:gdLst/>
              <a:ahLst/>
              <a:cxnLst/>
              <a:rect l="l" t="t" r="r" b="b"/>
              <a:pathLst>
                <a:path w="8220" h="6198" extrusionOk="0">
                  <a:moveTo>
                    <a:pt x="7078" y="0"/>
                  </a:moveTo>
                  <a:cubicBezTo>
                    <a:pt x="7005" y="0"/>
                    <a:pt x="6929" y="10"/>
                    <a:pt x="6852" y="30"/>
                  </a:cubicBezTo>
                  <a:lnTo>
                    <a:pt x="1" y="1766"/>
                  </a:lnTo>
                  <a:lnTo>
                    <a:pt x="1127" y="6198"/>
                  </a:lnTo>
                  <a:lnTo>
                    <a:pt x="2570" y="5491"/>
                  </a:lnTo>
                  <a:cubicBezTo>
                    <a:pt x="4558" y="4515"/>
                    <a:pt x="6319" y="3132"/>
                    <a:pt x="7732" y="1425"/>
                  </a:cubicBezTo>
                  <a:cubicBezTo>
                    <a:pt x="8219" y="840"/>
                    <a:pt x="7771" y="0"/>
                    <a:pt x="7078" y="0"/>
                  </a:cubicBezTo>
                  <a:close/>
                </a:path>
              </a:pathLst>
            </a:custGeom>
            <a:solidFill>
              <a:srgbClr val="FDE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4"/>
            <p:cNvSpPr/>
            <p:nvPr/>
          </p:nvSpPr>
          <p:spPr>
            <a:xfrm>
              <a:off x="872000" y="3472625"/>
              <a:ext cx="214100" cy="113675"/>
            </a:xfrm>
            <a:custGeom>
              <a:avLst/>
              <a:gdLst/>
              <a:ahLst/>
              <a:cxnLst/>
              <a:rect l="l" t="t" r="r" b="b"/>
              <a:pathLst>
                <a:path w="8564" h="4547" extrusionOk="0">
                  <a:moveTo>
                    <a:pt x="455" y="1"/>
                  </a:moveTo>
                  <a:lnTo>
                    <a:pt x="0" y="4546"/>
                  </a:lnTo>
                  <a:lnTo>
                    <a:pt x="1599" y="4372"/>
                  </a:lnTo>
                  <a:cubicBezTo>
                    <a:pt x="3803" y="4139"/>
                    <a:pt x="5929" y="3438"/>
                    <a:pt x="7839" y="2318"/>
                  </a:cubicBezTo>
                  <a:cubicBezTo>
                    <a:pt x="8563" y="1893"/>
                    <a:pt x="8318" y="791"/>
                    <a:pt x="7486" y="707"/>
                  </a:cubicBezTo>
                  <a:lnTo>
                    <a:pt x="455" y="1"/>
                  </a:lnTo>
                  <a:close/>
                </a:path>
              </a:pathLst>
            </a:custGeom>
            <a:solidFill>
              <a:srgbClr val="FDE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4"/>
            <p:cNvSpPr/>
            <p:nvPr/>
          </p:nvSpPr>
          <p:spPr>
            <a:xfrm>
              <a:off x="231525" y="3297000"/>
              <a:ext cx="760550" cy="688725"/>
            </a:xfrm>
            <a:custGeom>
              <a:avLst/>
              <a:gdLst/>
              <a:ahLst/>
              <a:cxnLst/>
              <a:rect l="l" t="t" r="r" b="b"/>
              <a:pathLst>
                <a:path w="30422" h="27549" extrusionOk="0">
                  <a:moveTo>
                    <a:pt x="21139" y="1"/>
                  </a:moveTo>
                  <a:cubicBezTo>
                    <a:pt x="16080" y="1"/>
                    <a:pt x="11959" y="4102"/>
                    <a:pt x="11959" y="9182"/>
                  </a:cubicBezTo>
                  <a:lnTo>
                    <a:pt x="11959" y="9260"/>
                  </a:lnTo>
                  <a:cubicBezTo>
                    <a:pt x="9845" y="8056"/>
                    <a:pt x="8235" y="6140"/>
                    <a:pt x="7402" y="3852"/>
                  </a:cubicBezTo>
                  <a:cubicBezTo>
                    <a:pt x="7225" y="3354"/>
                    <a:pt x="6791" y="3110"/>
                    <a:pt x="6358" y="3110"/>
                  </a:cubicBezTo>
                  <a:cubicBezTo>
                    <a:pt x="5901" y="3110"/>
                    <a:pt x="5445" y="3383"/>
                    <a:pt x="5294" y="3918"/>
                  </a:cubicBezTo>
                  <a:cubicBezTo>
                    <a:pt x="4480" y="6798"/>
                    <a:pt x="4845" y="9882"/>
                    <a:pt x="6312" y="12493"/>
                  </a:cubicBezTo>
                  <a:cubicBezTo>
                    <a:pt x="5192" y="11882"/>
                    <a:pt x="4192" y="11062"/>
                    <a:pt x="3378" y="10080"/>
                  </a:cubicBezTo>
                  <a:cubicBezTo>
                    <a:pt x="3142" y="9798"/>
                    <a:pt x="2832" y="9672"/>
                    <a:pt x="2527" y="9672"/>
                  </a:cubicBezTo>
                  <a:cubicBezTo>
                    <a:pt x="1933" y="9672"/>
                    <a:pt x="1362" y="10148"/>
                    <a:pt x="1414" y="10864"/>
                  </a:cubicBezTo>
                  <a:cubicBezTo>
                    <a:pt x="1677" y="14469"/>
                    <a:pt x="3659" y="17733"/>
                    <a:pt x="6737" y="19625"/>
                  </a:cubicBezTo>
                  <a:cubicBezTo>
                    <a:pt x="5055" y="20889"/>
                    <a:pt x="3091" y="21721"/>
                    <a:pt x="1007" y="22057"/>
                  </a:cubicBezTo>
                  <a:cubicBezTo>
                    <a:pt x="258" y="22183"/>
                    <a:pt x="1" y="23135"/>
                    <a:pt x="593" y="23602"/>
                  </a:cubicBezTo>
                  <a:cubicBezTo>
                    <a:pt x="3826" y="26159"/>
                    <a:pt x="7822" y="27548"/>
                    <a:pt x="11939" y="27548"/>
                  </a:cubicBezTo>
                  <a:cubicBezTo>
                    <a:pt x="11948" y="27548"/>
                    <a:pt x="11957" y="27548"/>
                    <a:pt x="11965" y="27548"/>
                  </a:cubicBezTo>
                  <a:cubicBezTo>
                    <a:pt x="21990" y="27548"/>
                    <a:pt x="30140" y="19518"/>
                    <a:pt x="30326" y="9535"/>
                  </a:cubicBezTo>
                  <a:cubicBezTo>
                    <a:pt x="30422" y="4415"/>
                    <a:pt x="26380" y="61"/>
                    <a:pt x="21259" y="1"/>
                  </a:cubicBezTo>
                  <a:cubicBezTo>
                    <a:pt x="21219" y="1"/>
                    <a:pt x="21179" y="1"/>
                    <a:pt x="21139" y="1"/>
                  </a:cubicBezTo>
                  <a:close/>
                </a:path>
              </a:pathLst>
            </a:custGeom>
            <a:solidFill>
              <a:srgbClr val="00D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4"/>
            <p:cNvSpPr/>
            <p:nvPr/>
          </p:nvSpPr>
          <p:spPr>
            <a:xfrm>
              <a:off x="231525" y="3360050"/>
              <a:ext cx="650525" cy="625675"/>
            </a:xfrm>
            <a:custGeom>
              <a:avLst/>
              <a:gdLst/>
              <a:ahLst/>
              <a:cxnLst/>
              <a:rect l="l" t="t" r="r" b="b"/>
              <a:pathLst>
                <a:path w="26021" h="25027" extrusionOk="0">
                  <a:moveTo>
                    <a:pt x="14822" y="1"/>
                  </a:moveTo>
                  <a:lnTo>
                    <a:pt x="14822" y="1"/>
                  </a:lnTo>
                  <a:cubicBezTo>
                    <a:pt x="12995" y="1731"/>
                    <a:pt x="11959" y="4139"/>
                    <a:pt x="11965" y="6660"/>
                  </a:cubicBezTo>
                  <a:lnTo>
                    <a:pt x="11965" y="6738"/>
                  </a:lnTo>
                  <a:cubicBezTo>
                    <a:pt x="9845" y="5534"/>
                    <a:pt x="8235" y="3618"/>
                    <a:pt x="7402" y="1330"/>
                  </a:cubicBezTo>
                  <a:cubicBezTo>
                    <a:pt x="7225" y="832"/>
                    <a:pt x="6792" y="588"/>
                    <a:pt x="6360" y="588"/>
                  </a:cubicBezTo>
                  <a:cubicBezTo>
                    <a:pt x="5904" y="588"/>
                    <a:pt x="5448" y="861"/>
                    <a:pt x="5294" y="1396"/>
                  </a:cubicBezTo>
                  <a:cubicBezTo>
                    <a:pt x="4480" y="4276"/>
                    <a:pt x="4845" y="7360"/>
                    <a:pt x="6312" y="9971"/>
                  </a:cubicBezTo>
                  <a:cubicBezTo>
                    <a:pt x="5192" y="9360"/>
                    <a:pt x="4192" y="8540"/>
                    <a:pt x="3378" y="7558"/>
                  </a:cubicBezTo>
                  <a:cubicBezTo>
                    <a:pt x="3142" y="7276"/>
                    <a:pt x="2832" y="7150"/>
                    <a:pt x="2527" y="7150"/>
                  </a:cubicBezTo>
                  <a:cubicBezTo>
                    <a:pt x="1933" y="7150"/>
                    <a:pt x="1362" y="7626"/>
                    <a:pt x="1414" y="8342"/>
                  </a:cubicBezTo>
                  <a:cubicBezTo>
                    <a:pt x="1677" y="11947"/>
                    <a:pt x="3659" y="15211"/>
                    <a:pt x="6737" y="17103"/>
                  </a:cubicBezTo>
                  <a:cubicBezTo>
                    <a:pt x="5055" y="18367"/>
                    <a:pt x="3091" y="19205"/>
                    <a:pt x="1007" y="19541"/>
                  </a:cubicBezTo>
                  <a:cubicBezTo>
                    <a:pt x="258" y="19661"/>
                    <a:pt x="1" y="20613"/>
                    <a:pt x="593" y="21086"/>
                  </a:cubicBezTo>
                  <a:cubicBezTo>
                    <a:pt x="3957" y="23736"/>
                    <a:pt x="7967" y="25027"/>
                    <a:pt x="11951" y="25027"/>
                  </a:cubicBezTo>
                  <a:cubicBezTo>
                    <a:pt x="17194" y="25027"/>
                    <a:pt x="22393" y="22792"/>
                    <a:pt x="26020" y="18481"/>
                  </a:cubicBezTo>
                  <a:lnTo>
                    <a:pt x="26020" y="18481"/>
                  </a:lnTo>
                  <a:cubicBezTo>
                    <a:pt x="24793" y="18807"/>
                    <a:pt x="23662" y="18957"/>
                    <a:pt x="22622" y="18957"/>
                  </a:cubicBezTo>
                  <a:cubicBezTo>
                    <a:pt x="13179" y="18957"/>
                    <a:pt x="11364" y="6512"/>
                    <a:pt x="14822" y="1"/>
                  </a:cubicBezTo>
                  <a:close/>
                </a:path>
              </a:pathLst>
            </a:custGeom>
            <a:solidFill>
              <a:srgbClr val="07B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4"/>
            <p:cNvSpPr/>
            <p:nvPr/>
          </p:nvSpPr>
          <p:spPr>
            <a:xfrm>
              <a:off x="731850" y="3461550"/>
              <a:ext cx="142400" cy="113350"/>
            </a:xfrm>
            <a:custGeom>
              <a:avLst/>
              <a:gdLst/>
              <a:ahLst/>
              <a:cxnLst/>
              <a:rect l="l" t="t" r="r" b="b"/>
              <a:pathLst>
                <a:path w="5696" h="4534" extrusionOk="0">
                  <a:moveTo>
                    <a:pt x="2845" y="1"/>
                  </a:moveTo>
                  <a:cubicBezTo>
                    <a:pt x="1276" y="1"/>
                    <a:pt x="1" y="1019"/>
                    <a:pt x="1" y="2270"/>
                  </a:cubicBezTo>
                  <a:cubicBezTo>
                    <a:pt x="1" y="3522"/>
                    <a:pt x="1276" y="4534"/>
                    <a:pt x="2845" y="4534"/>
                  </a:cubicBezTo>
                  <a:cubicBezTo>
                    <a:pt x="4420" y="4534"/>
                    <a:pt x="5696" y="3522"/>
                    <a:pt x="5696" y="2270"/>
                  </a:cubicBezTo>
                  <a:cubicBezTo>
                    <a:pt x="5696" y="1019"/>
                    <a:pt x="4420" y="1"/>
                    <a:pt x="2845" y="1"/>
                  </a:cubicBezTo>
                  <a:close/>
                </a:path>
              </a:pathLst>
            </a:custGeom>
            <a:solidFill>
              <a:srgbClr val="D97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4"/>
            <p:cNvSpPr/>
            <p:nvPr/>
          </p:nvSpPr>
          <p:spPr>
            <a:xfrm>
              <a:off x="798025" y="3410350"/>
              <a:ext cx="92700" cy="59025"/>
            </a:xfrm>
            <a:custGeom>
              <a:avLst/>
              <a:gdLst/>
              <a:ahLst/>
              <a:cxnLst/>
              <a:rect l="l" t="t" r="r" b="b"/>
              <a:pathLst>
                <a:path w="3708" h="2361" extrusionOk="0">
                  <a:moveTo>
                    <a:pt x="1857" y="1"/>
                  </a:moveTo>
                  <a:cubicBezTo>
                    <a:pt x="839" y="1"/>
                    <a:pt x="13" y="827"/>
                    <a:pt x="13" y="1851"/>
                  </a:cubicBezTo>
                  <a:cubicBezTo>
                    <a:pt x="1" y="2133"/>
                    <a:pt x="222" y="2360"/>
                    <a:pt x="504" y="2360"/>
                  </a:cubicBezTo>
                  <a:cubicBezTo>
                    <a:pt x="785" y="2360"/>
                    <a:pt x="1007" y="2133"/>
                    <a:pt x="995" y="1851"/>
                  </a:cubicBezTo>
                  <a:cubicBezTo>
                    <a:pt x="983" y="1366"/>
                    <a:pt x="1372" y="965"/>
                    <a:pt x="1857" y="965"/>
                  </a:cubicBezTo>
                  <a:cubicBezTo>
                    <a:pt x="2342" y="965"/>
                    <a:pt x="2737" y="1366"/>
                    <a:pt x="2719" y="1851"/>
                  </a:cubicBezTo>
                  <a:cubicBezTo>
                    <a:pt x="2719" y="2121"/>
                    <a:pt x="2941" y="2342"/>
                    <a:pt x="3211" y="2342"/>
                  </a:cubicBezTo>
                  <a:cubicBezTo>
                    <a:pt x="3486" y="2342"/>
                    <a:pt x="3708" y="2121"/>
                    <a:pt x="3708" y="1851"/>
                  </a:cubicBezTo>
                  <a:cubicBezTo>
                    <a:pt x="3708" y="827"/>
                    <a:pt x="2881" y="1"/>
                    <a:pt x="1857" y="1"/>
                  </a:cubicBezTo>
                  <a:close/>
                </a:path>
              </a:pathLst>
            </a:custGeom>
            <a:solidFill>
              <a:srgbClr val="2C6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44"/>
          <p:cNvGrpSpPr/>
          <p:nvPr/>
        </p:nvGrpSpPr>
        <p:grpSpPr>
          <a:xfrm>
            <a:off x="2742225" y="4141210"/>
            <a:ext cx="452027" cy="319163"/>
            <a:chOff x="6394225" y="679500"/>
            <a:chExt cx="853525" cy="602650"/>
          </a:xfrm>
        </p:grpSpPr>
        <p:sp>
          <p:nvSpPr>
            <p:cNvPr id="852" name="Google Shape;852;p44"/>
            <p:cNvSpPr/>
            <p:nvPr/>
          </p:nvSpPr>
          <p:spPr>
            <a:xfrm>
              <a:off x="6394225" y="679600"/>
              <a:ext cx="853525" cy="602550"/>
            </a:xfrm>
            <a:custGeom>
              <a:avLst/>
              <a:gdLst/>
              <a:ahLst/>
              <a:cxnLst/>
              <a:rect l="l" t="t" r="r" b="b"/>
              <a:pathLst>
                <a:path w="34141" h="24102" extrusionOk="0">
                  <a:moveTo>
                    <a:pt x="28313" y="0"/>
                  </a:moveTo>
                  <a:cubicBezTo>
                    <a:pt x="28125" y="0"/>
                    <a:pt x="27936" y="16"/>
                    <a:pt x="27745" y="50"/>
                  </a:cubicBezTo>
                  <a:lnTo>
                    <a:pt x="2941" y="4422"/>
                  </a:lnTo>
                  <a:cubicBezTo>
                    <a:pt x="1174" y="4733"/>
                    <a:pt x="0" y="6416"/>
                    <a:pt x="312" y="8176"/>
                  </a:cubicBezTo>
                  <a:lnTo>
                    <a:pt x="2647" y="21423"/>
                  </a:lnTo>
                  <a:cubicBezTo>
                    <a:pt x="2925" y="22993"/>
                    <a:pt x="4289" y="24101"/>
                    <a:pt x="5834" y="24101"/>
                  </a:cubicBezTo>
                  <a:cubicBezTo>
                    <a:pt x="6022" y="24101"/>
                    <a:pt x="6211" y="24085"/>
                    <a:pt x="6402" y="24052"/>
                  </a:cubicBezTo>
                  <a:lnTo>
                    <a:pt x="31206" y="19680"/>
                  </a:lnTo>
                  <a:cubicBezTo>
                    <a:pt x="32967" y="19369"/>
                    <a:pt x="34140" y="17686"/>
                    <a:pt x="33835" y="15925"/>
                  </a:cubicBezTo>
                  <a:lnTo>
                    <a:pt x="31493" y="2673"/>
                  </a:lnTo>
                  <a:cubicBezTo>
                    <a:pt x="31221" y="1103"/>
                    <a:pt x="29854" y="0"/>
                    <a:pt x="28313" y="0"/>
                  </a:cubicBezTo>
                  <a:close/>
                </a:path>
              </a:pathLst>
            </a:custGeom>
            <a:solidFill>
              <a:srgbClr val="56B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6394225" y="679600"/>
              <a:ext cx="853525" cy="602550"/>
            </a:xfrm>
            <a:custGeom>
              <a:avLst/>
              <a:gdLst/>
              <a:ahLst/>
              <a:cxnLst/>
              <a:rect l="l" t="t" r="r" b="b"/>
              <a:pathLst>
                <a:path w="34141" h="24102" extrusionOk="0">
                  <a:moveTo>
                    <a:pt x="28313" y="0"/>
                  </a:moveTo>
                  <a:cubicBezTo>
                    <a:pt x="28125" y="0"/>
                    <a:pt x="27936" y="16"/>
                    <a:pt x="27745" y="50"/>
                  </a:cubicBezTo>
                  <a:lnTo>
                    <a:pt x="2941" y="4422"/>
                  </a:lnTo>
                  <a:cubicBezTo>
                    <a:pt x="1174" y="4733"/>
                    <a:pt x="0" y="6416"/>
                    <a:pt x="312" y="8176"/>
                  </a:cubicBezTo>
                  <a:lnTo>
                    <a:pt x="2647" y="21423"/>
                  </a:lnTo>
                  <a:cubicBezTo>
                    <a:pt x="2925" y="22993"/>
                    <a:pt x="4289" y="24101"/>
                    <a:pt x="5834" y="24101"/>
                  </a:cubicBezTo>
                  <a:cubicBezTo>
                    <a:pt x="6022" y="24101"/>
                    <a:pt x="6211" y="24085"/>
                    <a:pt x="6402" y="24052"/>
                  </a:cubicBezTo>
                  <a:lnTo>
                    <a:pt x="31206" y="19680"/>
                  </a:lnTo>
                  <a:cubicBezTo>
                    <a:pt x="32967" y="19369"/>
                    <a:pt x="34140" y="17686"/>
                    <a:pt x="33835" y="15925"/>
                  </a:cubicBezTo>
                  <a:lnTo>
                    <a:pt x="31493" y="2673"/>
                  </a:lnTo>
                  <a:cubicBezTo>
                    <a:pt x="31221" y="1103"/>
                    <a:pt x="29854" y="0"/>
                    <a:pt x="28313" y="0"/>
                  </a:cubicBezTo>
                  <a:close/>
                </a:path>
              </a:pathLst>
            </a:custGeom>
            <a:solidFill>
              <a:srgbClr val="56B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4"/>
            <p:cNvSpPr/>
            <p:nvPr/>
          </p:nvSpPr>
          <p:spPr>
            <a:xfrm>
              <a:off x="6394225" y="679600"/>
              <a:ext cx="853525" cy="602550"/>
            </a:xfrm>
            <a:custGeom>
              <a:avLst/>
              <a:gdLst/>
              <a:ahLst/>
              <a:cxnLst/>
              <a:rect l="l" t="t" r="r" b="b"/>
              <a:pathLst>
                <a:path w="34141" h="24102" extrusionOk="0">
                  <a:moveTo>
                    <a:pt x="28313" y="0"/>
                  </a:moveTo>
                  <a:cubicBezTo>
                    <a:pt x="28125" y="0"/>
                    <a:pt x="27936" y="16"/>
                    <a:pt x="27745" y="50"/>
                  </a:cubicBezTo>
                  <a:lnTo>
                    <a:pt x="2941" y="4422"/>
                  </a:lnTo>
                  <a:cubicBezTo>
                    <a:pt x="1174" y="4733"/>
                    <a:pt x="0" y="6416"/>
                    <a:pt x="312" y="8176"/>
                  </a:cubicBezTo>
                  <a:lnTo>
                    <a:pt x="2647" y="21423"/>
                  </a:lnTo>
                  <a:cubicBezTo>
                    <a:pt x="2925" y="22993"/>
                    <a:pt x="4289" y="24101"/>
                    <a:pt x="5834" y="24101"/>
                  </a:cubicBezTo>
                  <a:cubicBezTo>
                    <a:pt x="6022" y="24101"/>
                    <a:pt x="6211" y="24085"/>
                    <a:pt x="6402" y="24052"/>
                  </a:cubicBezTo>
                  <a:lnTo>
                    <a:pt x="31206" y="19680"/>
                  </a:lnTo>
                  <a:cubicBezTo>
                    <a:pt x="32967" y="19369"/>
                    <a:pt x="34140" y="17686"/>
                    <a:pt x="33835" y="15925"/>
                  </a:cubicBezTo>
                  <a:lnTo>
                    <a:pt x="31493" y="2673"/>
                  </a:lnTo>
                  <a:cubicBezTo>
                    <a:pt x="31221" y="1103"/>
                    <a:pt x="29854" y="0"/>
                    <a:pt x="283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4"/>
            <p:cNvSpPr/>
            <p:nvPr/>
          </p:nvSpPr>
          <p:spPr>
            <a:xfrm>
              <a:off x="6476250" y="900175"/>
              <a:ext cx="761025" cy="381975"/>
            </a:xfrm>
            <a:custGeom>
              <a:avLst/>
              <a:gdLst/>
              <a:ahLst/>
              <a:cxnLst/>
              <a:rect l="l" t="t" r="r" b="b"/>
              <a:pathLst>
                <a:path w="30441" h="15279" extrusionOk="0">
                  <a:moveTo>
                    <a:pt x="16391" y="0"/>
                  </a:moveTo>
                  <a:lnTo>
                    <a:pt x="10241" y="1084"/>
                  </a:lnTo>
                  <a:lnTo>
                    <a:pt x="1" y="14031"/>
                  </a:lnTo>
                  <a:cubicBezTo>
                    <a:pt x="620" y="14826"/>
                    <a:pt x="1564" y="15278"/>
                    <a:pt x="2554" y="15278"/>
                  </a:cubicBezTo>
                  <a:cubicBezTo>
                    <a:pt x="2742" y="15278"/>
                    <a:pt x="2932" y="15262"/>
                    <a:pt x="3121" y="15229"/>
                  </a:cubicBezTo>
                  <a:lnTo>
                    <a:pt x="27925" y="10857"/>
                  </a:lnTo>
                  <a:cubicBezTo>
                    <a:pt x="29105" y="10647"/>
                    <a:pt x="30075" y="9803"/>
                    <a:pt x="30440" y="8665"/>
                  </a:cubicBezTo>
                  <a:lnTo>
                    <a:pt x="163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4"/>
            <p:cNvSpPr/>
            <p:nvPr/>
          </p:nvSpPr>
          <p:spPr>
            <a:xfrm>
              <a:off x="6406050" y="679600"/>
              <a:ext cx="756950" cy="356750"/>
            </a:xfrm>
            <a:custGeom>
              <a:avLst/>
              <a:gdLst/>
              <a:ahLst/>
              <a:cxnLst/>
              <a:rect l="l" t="t" r="r" b="b"/>
              <a:pathLst>
                <a:path w="30278" h="14270" extrusionOk="0">
                  <a:moveTo>
                    <a:pt x="27837" y="1"/>
                  </a:moveTo>
                  <a:cubicBezTo>
                    <a:pt x="27649" y="1"/>
                    <a:pt x="27460" y="17"/>
                    <a:pt x="27272" y="50"/>
                  </a:cubicBezTo>
                  <a:lnTo>
                    <a:pt x="2462" y="4422"/>
                  </a:lnTo>
                  <a:cubicBezTo>
                    <a:pt x="1348" y="4619"/>
                    <a:pt x="414" y="5392"/>
                    <a:pt x="0" y="6452"/>
                  </a:cubicBezTo>
                  <a:lnTo>
                    <a:pt x="15546" y="14033"/>
                  </a:lnTo>
                  <a:cubicBezTo>
                    <a:pt x="15875" y="14192"/>
                    <a:pt x="16227" y="14269"/>
                    <a:pt x="16576" y="14269"/>
                  </a:cubicBezTo>
                  <a:cubicBezTo>
                    <a:pt x="17199" y="14269"/>
                    <a:pt x="17812" y="14022"/>
                    <a:pt x="18265" y="13554"/>
                  </a:cubicBezTo>
                  <a:lnTo>
                    <a:pt x="30278" y="1116"/>
                  </a:lnTo>
                  <a:cubicBezTo>
                    <a:pt x="29655" y="399"/>
                    <a:pt x="28763" y="1"/>
                    <a:pt x="27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4"/>
            <p:cNvSpPr/>
            <p:nvPr/>
          </p:nvSpPr>
          <p:spPr>
            <a:xfrm>
              <a:off x="7099200" y="679500"/>
              <a:ext cx="4375" cy="25"/>
            </a:xfrm>
            <a:custGeom>
              <a:avLst/>
              <a:gdLst/>
              <a:ahLst/>
              <a:cxnLst/>
              <a:rect l="l" t="t" r="r" b="b"/>
              <a:pathLst>
                <a:path w="175" h="1" extrusionOk="0">
                  <a:moveTo>
                    <a:pt x="175" y="0"/>
                  </a:moveTo>
                  <a:lnTo>
                    <a:pt x="1" y="0"/>
                  </a:lnTo>
                  <a:cubicBezTo>
                    <a:pt x="61" y="0"/>
                    <a:pt x="115" y="0"/>
                    <a:pt x="175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4"/>
            <p:cNvSpPr/>
            <p:nvPr/>
          </p:nvSpPr>
          <p:spPr>
            <a:xfrm>
              <a:off x="7110150" y="679950"/>
              <a:ext cx="3600" cy="475"/>
            </a:xfrm>
            <a:custGeom>
              <a:avLst/>
              <a:gdLst/>
              <a:ahLst/>
              <a:cxnLst/>
              <a:rect l="l" t="t" r="r" b="b"/>
              <a:pathLst>
                <a:path w="144" h="19" extrusionOk="0">
                  <a:moveTo>
                    <a:pt x="144" y="18"/>
                  </a:moveTo>
                  <a:cubicBezTo>
                    <a:pt x="96" y="12"/>
                    <a:pt x="48" y="6"/>
                    <a:pt x="0" y="0"/>
                  </a:cubicBezTo>
                  <a:cubicBezTo>
                    <a:pt x="48" y="6"/>
                    <a:pt x="96" y="12"/>
                    <a:pt x="144" y="1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4"/>
            <p:cNvSpPr/>
            <p:nvPr/>
          </p:nvSpPr>
          <p:spPr>
            <a:xfrm>
              <a:off x="7094275" y="679650"/>
              <a:ext cx="3600" cy="325"/>
            </a:xfrm>
            <a:custGeom>
              <a:avLst/>
              <a:gdLst/>
              <a:ahLst/>
              <a:cxnLst/>
              <a:rect l="l" t="t" r="r" b="b"/>
              <a:pathLst>
                <a:path w="144" h="13" extrusionOk="0">
                  <a:moveTo>
                    <a:pt x="144" y="0"/>
                  </a:moveTo>
                  <a:cubicBezTo>
                    <a:pt x="90" y="0"/>
                    <a:pt x="42" y="6"/>
                    <a:pt x="0" y="12"/>
                  </a:cubicBezTo>
                  <a:cubicBezTo>
                    <a:pt x="48" y="6"/>
                    <a:pt x="96" y="0"/>
                    <a:pt x="144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4"/>
            <p:cNvSpPr/>
            <p:nvPr/>
          </p:nvSpPr>
          <p:spPr>
            <a:xfrm>
              <a:off x="7104000" y="679500"/>
              <a:ext cx="4825" cy="325"/>
            </a:xfrm>
            <a:custGeom>
              <a:avLst/>
              <a:gdLst/>
              <a:ahLst/>
              <a:cxnLst/>
              <a:rect l="l" t="t" r="r" b="b"/>
              <a:pathLst>
                <a:path w="193" h="13" extrusionOk="0">
                  <a:moveTo>
                    <a:pt x="192" y="12"/>
                  </a:moveTo>
                  <a:cubicBezTo>
                    <a:pt x="132" y="6"/>
                    <a:pt x="66" y="6"/>
                    <a:pt x="0" y="0"/>
                  </a:cubicBezTo>
                  <a:cubicBezTo>
                    <a:pt x="66" y="6"/>
                    <a:pt x="132" y="6"/>
                    <a:pt x="192" y="12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4"/>
            <p:cNvSpPr/>
            <p:nvPr/>
          </p:nvSpPr>
          <p:spPr>
            <a:xfrm>
              <a:off x="7147875" y="693875"/>
              <a:ext cx="3900" cy="2850"/>
            </a:xfrm>
            <a:custGeom>
              <a:avLst/>
              <a:gdLst/>
              <a:ahLst/>
              <a:cxnLst/>
              <a:rect l="l" t="t" r="r" b="b"/>
              <a:pathLst>
                <a:path w="156" h="114" extrusionOk="0">
                  <a:moveTo>
                    <a:pt x="0" y="0"/>
                  </a:moveTo>
                  <a:cubicBezTo>
                    <a:pt x="54" y="36"/>
                    <a:pt x="102" y="72"/>
                    <a:pt x="156" y="114"/>
                  </a:cubicBezTo>
                  <a:cubicBezTo>
                    <a:pt x="102" y="72"/>
                    <a:pt x="54" y="36"/>
                    <a:pt x="0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4"/>
            <p:cNvSpPr/>
            <p:nvPr/>
          </p:nvSpPr>
          <p:spPr>
            <a:xfrm>
              <a:off x="7115075" y="680700"/>
              <a:ext cx="4075" cy="625"/>
            </a:xfrm>
            <a:custGeom>
              <a:avLst/>
              <a:gdLst/>
              <a:ahLst/>
              <a:cxnLst/>
              <a:rect l="l" t="t" r="r" b="b"/>
              <a:pathLst>
                <a:path w="163" h="25" extrusionOk="0">
                  <a:moveTo>
                    <a:pt x="162" y="24"/>
                  </a:moveTo>
                  <a:cubicBezTo>
                    <a:pt x="108" y="18"/>
                    <a:pt x="55" y="6"/>
                    <a:pt x="1" y="0"/>
                  </a:cubicBezTo>
                  <a:cubicBezTo>
                    <a:pt x="55" y="6"/>
                    <a:pt x="108" y="18"/>
                    <a:pt x="162" y="24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4"/>
            <p:cNvSpPr/>
            <p:nvPr/>
          </p:nvSpPr>
          <p:spPr>
            <a:xfrm>
              <a:off x="7087825" y="680100"/>
              <a:ext cx="4975" cy="625"/>
            </a:xfrm>
            <a:custGeom>
              <a:avLst/>
              <a:gdLst/>
              <a:ahLst/>
              <a:cxnLst/>
              <a:rect l="l" t="t" r="r" b="b"/>
              <a:pathLst>
                <a:path w="199" h="25" extrusionOk="0">
                  <a:moveTo>
                    <a:pt x="198" y="0"/>
                  </a:moveTo>
                  <a:cubicBezTo>
                    <a:pt x="132" y="6"/>
                    <a:pt x="67" y="18"/>
                    <a:pt x="1" y="24"/>
                  </a:cubicBezTo>
                  <a:cubicBezTo>
                    <a:pt x="67" y="18"/>
                    <a:pt x="132" y="6"/>
                    <a:pt x="198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4"/>
            <p:cNvSpPr/>
            <p:nvPr/>
          </p:nvSpPr>
          <p:spPr>
            <a:xfrm>
              <a:off x="7143825" y="691325"/>
              <a:ext cx="3475" cy="2125"/>
            </a:xfrm>
            <a:custGeom>
              <a:avLst/>
              <a:gdLst/>
              <a:ahLst/>
              <a:cxnLst/>
              <a:rect l="l" t="t" r="r" b="b"/>
              <a:pathLst>
                <a:path w="139" h="85" extrusionOk="0">
                  <a:moveTo>
                    <a:pt x="0" y="0"/>
                  </a:moveTo>
                  <a:cubicBezTo>
                    <a:pt x="48" y="30"/>
                    <a:pt x="90" y="54"/>
                    <a:pt x="138" y="84"/>
                  </a:cubicBezTo>
                  <a:cubicBezTo>
                    <a:pt x="90" y="54"/>
                    <a:pt x="48" y="24"/>
                    <a:pt x="0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4"/>
            <p:cNvSpPr/>
            <p:nvPr/>
          </p:nvSpPr>
          <p:spPr>
            <a:xfrm>
              <a:off x="7156100" y="700450"/>
              <a:ext cx="3025" cy="2725"/>
            </a:xfrm>
            <a:custGeom>
              <a:avLst/>
              <a:gdLst/>
              <a:ahLst/>
              <a:cxnLst/>
              <a:rect l="l" t="t" r="r" b="b"/>
              <a:pathLst>
                <a:path w="121" h="109" extrusionOk="0">
                  <a:moveTo>
                    <a:pt x="120" y="108"/>
                  </a:moveTo>
                  <a:cubicBezTo>
                    <a:pt x="78" y="72"/>
                    <a:pt x="42" y="36"/>
                    <a:pt x="0" y="1"/>
                  </a:cubicBezTo>
                  <a:cubicBezTo>
                    <a:pt x="42" y="36"/>
                    <a:pt x="78" y="72"/>
                    <a:pt x="120" y="10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4"/>
            <p:cNvSpPr/>
            <p:nvPr/>
          </p:nvSpPr>
          <p:spPr>
            <a:xfrm>
              <a:off x="7152050" y="697000"/>
              <a:ext cx="3325" cy="2725"/>
            </a:xfrm>
            <a:custGeom>
              <a:avLst/>
              <a:gdLst/>
              <a:ahLst/>
              <a:cxnLst/>
              <a:rect l="l" t="t" r="r" b="b"/>
              <a:pathLst>
                <a:path w="133" h="109" extrusionOk="0">
                  <a:moveTo>
                    <a:pt x="133" y="109"/>
                  </a:moveTo>
                  <a:cubicBezTo>
                    <a:pt x="91" y="73"/>
                    <a:pt x="49" y="37"/>
                    <a:pt x="1" y="1"/>
                  </a:cubicBezTo>
                  <a:cubicBezTo>
                    <a:pt x="49" y="37"/>
                    <a:pt x="91" y="73"/>
                    <a:pt x="133" y="109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4"/>
            <p:cNvSpPr/>
            <p:nvPr/>
          </p:nvSpPr>
          <p:spPr>
            <a:xfrm>
              <a:off x="7119725" y="681450"/>
              <a:ext cx="4650" cy="1200"/>
            </a:xfrm>
            <a:custGeom>
              <a:avLst/>
              <a:gdLst/>
              <a:ahLst/>
              <a:cxnLst/>
              <a:rect l="l" t="t" r="r" b="b"/>
              <a:pathLst>
                <a:path w="186" h="48" extrusionOk="0">
                  <a:moveTo>
                    <a:pt x="186" y="48"/>
                  </a:moveTo>
                  <a:cubicBezTo>
                    <a:pt x="120" y="30"/>
                    <a:pt x="60" y="18"/>
                    <a:pt x="0" y="0"/>
                  </a:cubicBezTo>
                  <a:cubicBezTo>
                    <a:pt x="60" y="18"/>
                    <a:pt x="120" y="30"/>
                    <a:pt x="186" y="4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4"/>
            <p:cNvSpPr/>
            <p:nvPr/>
          </p:nvSpPr>
          <p:spPr>
            <a:xfrm>
              <a:off x="7159700" y="703900"/>
              <a:ext cx="3300" cy="3625"/>
            </a:xfrm>
            <a:custGeom>
              <a:avLst/>
              <a:gdLst/>
              <a:ahLst/>
              <a:cxnLst/>
              <a:rect l="l" t="t" r="r" b="b"/>
              <a:pathLst>
                <a:path w="132" h="145" extrusionOk="0">
                  <a:moveTo>
                    <a:pt x="132" y="144"/>
                  </a:moveTo>
                  <a:cubicBezTo>
                    <a:pt x="90" y="90"/>
                    <a:pt x="42" y="42"/>
                    <a:pt x="0" y="0"/>
                  </a:cubicBezTo>
                  <a:cubicBezTo>
                    <a:pt x="42" y="42"/>
                    <a:pt x="90" y="90"/>
                    <a:pt x="132" y="144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4"/>
            <p:cNvSpPr/>
            <p:nvPr/>
          </p:nvSpPr>
          <p:spPr>
            <a:xfrm>
              <a:off x="7139325" y="688775"/>
              <a:ext cx="3625" cy="1975"/>
            </a:xfrm>
            <a:custGeom>
              <a:avLst/>
              <a:gdLst/>
              <a:ahLst/>
              <a:cxnLst/>
              <a:rect l="l" t="t" r="r" b="b"/>
              <a:pathLst>
                <a:path w="145" h="79" extrusionOk="0">
                  <a:moveTo>
                    <a:pt x="144" y="78"/>
                  </a:moveTo>
                  <a:cubicBezTo>
                    <a:pt x="97" y="48"/>
                    <a:pt x="49" y="24"/>
                    <a:pt x="1" y="0"/>
                  </a:cubicBezTo>
                  <a:cubicBezTo>
                    <a:pt x="49" y="24"/>
                    <a:pt x="97" y="48"/>
                    <a:pt x="144" y="7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4"/>
            <p:cNvSpPr/>
            <p:nvPr/>
          </p:nvSpPr>
          <p:spPr>
            <a:xfrm>
              <a:off x="7134400" y="686375"/>
              <a:ext cx="4350" cy="2125"/>
            </a:xfrm>
            <a:custGeom>
              <a:avLst/>
              <a:gdLst/>
              <a:ahLst/>
              <a:cxnLst/>
              <a:rect l="l" t="t" r="r" b="b"/>
              <a:pathLst>
                <a:path w="174" h="85" extrusionOk="0">
                  <a:moveTo>
                    <a:pt x="174" y="84"/>
                  </a:moveTo>
                  <a:cubicBezTo>
                    <a:pt x="120" y="55"/>
                    <a:pt x="60" y="25"/>
                    <a:pt x="0" y="1"/>
                  </a:cubicBezTo>
                  <a:cubicBezTo>
                    <a:pt x="60" y="25"/>
                    <a:pt x="120" y="55"/>
                    <a:pt x="174" y="84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4"/>
            <p:cNvSpPr/>
            <p:nvPr/>
          </p:nvSpPr>
          <p:spPr>
            <a:xfrm>
              <a:off x="7125275" y="682925"/>
              <a:ext cx="3600" cy="1225"/>
            </a:xfrm>
            <a:custGeom>
              <a:avLst/>
              <a:gdLst/>
              <a:ahLst/>
              <a:cxnLst/>
              <a:rect l="l" t="t" r="r" b="b"/>
              <a:pathLst>
                <a:path w="144" h="49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9"/>
                    <a:pt x="96" y="31"/>
                    <a:pt x="144" y="49"/>
                  </a:cubicBezTo>
                  <a:cubicBezTo>
                    <a:pt x="102" y="31"/>
                    <a:pt x="48" y="19"/>
                    <a:pt x="0" y="1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4"/>
            <p:cNvSpPr/>
            <p:nvPr/>
          </p:nvSpPr>
          <p:spPr>
            <a:xfrm>
              <a:off x="7130050" y="684575"/>
              <a:ext cx="3775" cy="1525"/>
            </a:xfrm>
            <a:custGeom>
              <a:avLst/>
              <a:gdLst/>
              <a:ahLst/>
              <a:cxnLst/>
              <a:rect l="l" t="t" r="r" b="b"/>
              <a:pathLst>
                <a:path w="151" h="61" extrusionOk="0">
                  <a:moveTo>
                    <a:pt x="1" y="1"/>
                  </a:moveTo>
                  <a:cubicBezTo>
                    <a:pt x="48" y="19"/>
                    <a:pt x="102" y="43"/>
                    <a:pt x="150" y="61"/>
                  </a:cubicBezTo>
                  <a:cubicBezTo>
                    <a:pt x="102" y="37"/>
                    <a:pt x="48" y="19"/>
                    <a:pt x="1" y="1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" name="Google Shape;873;p44"/>
          <p:cNvGrpSpPr/>
          <p:nvPr/>
        </p:nvGrpSpPr>
        <p:grpSpPr>
          <a:xfrm>
            <a:off x="2249986" y="4141318"/>
            <a:ext cx="312049" cy="312049"/>
            <a:chOff x="5136800" y="606725"/>
            <a:chExt cx="840650" cy="840650"/>
          </a:xfrm>
        </p:grpSpPr>
        <p:sp>
          <p:nvSpPr>
            <p:cNvPr id="874" name="Google Shape;874;p44"/>
            <p:cNvSpPr/>
            <p:nvPr/>
          </p:nvSpPr>
          <p:spPr>
            <a:xfrm>
              <a:off x="5136800" y="606725"/>
              <a:ext cx="840650" cy="840650"/>
            </a:xfrm>
            <a:custGeom>
              <a:avLst/>
              <a:gdLst/>
              <a:ahLst/>
              <a:cxnLst/>
              <a:rect l="l" t="t" r="r" b="b"/>
              <a:pathLst>
                <a:path w="33626" h="33626" extrusionOk="0">
                  <a:moveTo>
                    <a:pt x="6055" y="1"/>
                  </a:moveTo>
                  <a:cubicBezTo>
                    <a:pt x="2713" y="1"/>
                    <a:pt x="0" y="2714"/>
                    <a:pt x="0" y="6055"/>
                  </a:cubicBezTo>
                  <a:lnTo>
                    <a:pt x="0" y="27571"/>
                  </a:lnTo>
                  <a:cubicBezTo>
                    <a:pt x="0" y="30913"/>
                    <a:pt x="2713" y="33626"/>
                    <a:pt x="6055" y="33626"/>
                  </a:cubicBezTo>
                  <a:lnTo>
                    <a:pt x="27571" y="33626"/>
                  </a:lnTo>
                  <a:cubicBezTo>
                    <a:pt x="30913" y="33626"/>
                    <a:pt x="33626" y="30919"/>
                    <a:pt x="33626" y="27571"/>
                  </a:cubicBezTo>
                  <a:lnTo>
                    <a:pt x="33626" y="6055"/>
                  </a:lnTo>
                  <a:cubicBezTo>
                    <a:pt x="33626" y="2714"/>
                    <a:pt x="30919" y="1"/>
                    <a:pt x="27577" y="1"/>
                  </a:cubicBezTo>
                  <a:close/>
                </a:path>
              </a:pathLst>
            </a:custGeom>
            <a:solidFill>
              <a:srgbClr val="CD48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4"/>
            <p:cNvSpPr/>
            <p:nvPr/>
          </p:nvSpPr>
          <p:spPr>
            <a:xfrm>
              <a:off x="5136800" y="1052275"/>
              <a:ext cx="840500" cy="395100"/>
            </a:xfrm>
            <a:custGeom>
              <a:avLst/>
              <a:gdLst/>
              <a:ahLst/>
              <a:cxnLst/>
              <a:rect l="l" t="t" r="r" b="b"/>
              <a:pathLst>
                <a:path w="33620" h="15804" extrusionOk="0">
                  <a:moveTo>
                    <a:pt x="33620" y="138"/>
                  </a:moveTo>
                  <a:cubicBezTo>
                    <a:pt x="23751" y="5582"/>
                    <a:pt x="12552" y="0"/>
                    <a:pt x="0" y="6695"/>
                  </a:cubicBezTo>
                  <a:lnTo>
                    <a:pt x="0" y="9749"/>
                  </a:lnTo>
                  <a:cubicBezTo>
                    <a:pt x="0" y="13097"/>
                    <a:pt x="2713" y="15804"/>
                    <a:pt x="6055" y="15804"/>
                  </a:cubicBezTo>
                  <a:lnTo>
                    <a:pt x="27577" y="15804"/>
                  </a:lnTo>
                  <a:cubicBezTo>
                    <a:pt x="30913" y="15798"/>
                    <a:pt x="33620" y="13091"/>
                    <a:pt x="33620" y="9749"/>
                  </a:cubicBezTo>
                  <a:lnTo>
                    <a:pt x="33620" y="138"/>
                  </a:lnTo>
                  <a:close/>
                </a:path>
              </a:pathLst>
            </a:custGeom>
            <a:solidFill>
              <a:srgbClr val="D97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4"/>
            <p:cNvSpPr/>
            <p:nvPr/>
          </p:nvSpPr>
          <p:spPr>
            <a:xfrm>
              <a:off x="5243550" y="757800"/>
              <a:ext cx="188800" cy="105100"/>
            </a:xfrm>
            <a:custGeom>
              <a:avLst/>
              <a:gdLst/>
              <a:ahLst/>
              <a:cxnLst/>
              <a:rect l="l" t="t" r="r" b="b"/>
              <a:pathLst>
                <a:path w="7552" h="4204" extrusionOk="0">
                  <a:moveTo>
                    <a:pt x="964" y="0"/>
                  </a:moveTo>
                  <a:cubicBezTo>
                    <a:pt x="431" y="0"/>
                    <a:pt x="0" y="431"/>
                    <a:pt x="0" y="964"/>
                  </a:cubicBezTo>
                  <a:lnTo>
                    <a:pt x="0" y="3240"/>
                  </a:lnTo>
                  <a:cubicBezTo>
                    <a:pt x="0" y="3773"/>
                    <a:pt x="431" y="4204"/>
                    <a:pt x="964" y="4204"/>
                  </a:cubicBezTo>
                  <a:lnTo>
                    <a:pt x="6588" y="4204"/>
                  </a:lnTo>
                  <a:cubicBezTo>
                    <a:pt x="7120" y="4204"/>
                    <a:pt x="7546" y="3773"/>
                    <a:pt x="7552" y="3240"/>
                  </a:cubicBezTo>
                  <a:lnTo>
                    <a:pt x="7552" y="964"/>
                  </a:lnTo>
                  <a:cubicBezTo>
                    <a:pt x="7546" y="431"/>
                    <a:pt x="7114" y="0"/>
                    <a:pt x="65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4"/>
            <p:cNvSpPr/>
            <p:nvPr/>
          </p:nvSpPr>
          <p:spPr>
            <a:xfrm>
              <a:off x="5307025" y="775900"/>
              <a:ext cx="501550" cy="501550"/>
            </a:xfrm>
            <a:custGeom>
              <a:avLst/>
              <a:gdLst/>
              <a:ahLst/>
              <a:cxnLst/>
              <a:rect l="l" t="t" r="r" b="b"/>
              <a:pathLst>
                <a:path w="20062" h="20062" extrusionOk="0">
                  <a:moveTo>
                    <a:pt x="10031" y="1"/>
                  </a:moveTo>
                  <a:cubicBezTo>
                    <a:pt x="4492" y="1"/>
                    <a:pt x="0" y="4492"/>
                    <a:pt x="0" y="10031"/>
                  </a:cubicBezTo>
                  <a:cubicBezTo>
                    <a:pt x="0" y="15571"/>
                    <a:pt x="4492" y="20062"/>
                    <a:pt x="10031" y="20062"/>
                  </a:cubicBezTo>
                  <a:cubicBezTo>
                    <a:pt x="15570" y="20062"/>
                    <a:pt x="20062" y="15571"/>
                    <a:pt x="20062" y="10031"/>
                  </a:cubicBezTo>
                  <a:cubicBezTo>
                    <a:pt x="20062" y="4492"/>
                    <a:pt x="15570" y="1"/>
                    <a:pt x="10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4"/>
            <p:cNvSpPr/>
            <p:nvPr/>
          </p:nvSpPr>
          <p:spPr>
            <a:xfrm>
              <a:off x="5397600" y="866475"/>
              <a:ext cx="320400" cy="320250"/>
            </a:xfrm>
            <a:custGeom>
              <a:avLst/>
              <a:gdLst/>
              <a:ahLst/>
              <a:cxnLst/>
              <a:rect l="l" t="t" r="r" b="b"/>
              <a:pathLst>
                <a:path w="12816" h="12810" extrusionOk="0">
                  <a:moveTo>
                    <a:pt x="6408" y="1"/>
                  </a:moveTo>
                  <a:cubicBezTo>
                    <a:pt x="2869" y="1"/>
                    <a:pt x="0" y="2869"/>
                    <a:pt x="0" y="6408"/>
                  </a:cubicBezTo>
                  <a:cubicBezTo>
                    <a:pt x="0" y="9941"/>
                    <a:pt x="2869" y="12810"/>
                    <a:pt x="6408" y="12810"/>
                  </a:cubicBezTo>
                  <a:cubicBezTo>
                    <a:pt x="9947" y="12810"/>
                    <a:pt x="12816" y="9941"/>
                    <a:pt x="12816" y="6408"/>
                  </a:cubicBezTo>
                  <a:cubicBezTo>
                    <a:pt x="12816" y="2869"/>
                    <a:pt x="9947" y="1"/>
                    <a:pt x="6408" y="1"/>
                  </a:cubicBezTo>
                  <a:close/>
                </a:path>
              </a:pathLst>
            </a:custGeom>
            <a:solidFill>
              <a:srgbClr val="AA9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4"/>
            <p:cNvSpPr/>
            <p:nvPr/>
          </p:nvSpPr>
          <p:spPr>
            <a:xfrm>
              <a:off x="5773825" y="686375"/>
              <a:ext cx="124275" cy="124300"/>
            </a:xfrm>
            <a:custGeom>
              <a:avLst/>
              <a:gdLst/>
              <a:ahLst/>
              <a:cxnLst/>
              <a:rect l="l" t="t" r="r" b="b"/>
              <a:pathLst>
                <a:path w="4971" h="4972" extrusionOk="0">
                  <a:moveTo>
                    <a:pt x="2485" y="1"/>
                  </a:moveTo>
                  <a:cubicBezTo>
                    <a:pt x="1108" y="1"/>
                    <a:pt x="0" y="1114"/>
                    <a:pt x="0" y="2486"/>
                  </a:cubicBezTo>
                  <a:cubicBezTo>
                    <a:pt x="0" y="3857"/>
                    <a:pt x="1108" y="4971"/>
                    <a:pt x="2485" y="4971"/>
                  </a:cubicBezTo>
                  <a:cubicBezTo>
                    <a:pt x="3857" y="4971"/>
                    <a:pt x="4971" y="3857"/>
                    <a:pt x="4971" y="2486"/>
                  </a:cubicBezTo>
                  <a:cubicBezTo>
                    <a:pt x="4971" y="1114"/>
                    <a:pt x="3857" y="1"/>
                    <a:pt x="2485" y="1"/>
                  </a:cubicBezTo>
                  <a:close/>
                </a:path>
              </a:pathLst>
            </a:custGeom>
            <a:solidFill>
              <a:srgbClr val="F4B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4"/>
            <p:cNvSpPr/>
            <p:nvPr/>
          </p:nvSpPr>
          <p:spPr>
            <a:xfrm>
              <a:off x="5449100" y="866450"/>
              <a:ext cx="268900" cy="269525"/>
            </a:xfrm>
            <a:custGeom>
              <a:avLst/>
              <a:gdLst/>
              <a:ahLst/>
              <a:cxnLst/>
              <a:rect l="l" t="t" r="r" b="b"/>
              <a:pathLst>
                <a:path w="10756" h="10781" extrusionOk="0">
                  <a:moveTo>
                    <a:pt x="4355" y="0"/>
                  </a:moveTo>
                  <a:cubicBezTo>
                    <a:pt x="2770" y="0"/>
                    <a:pt x="1209" y="587"/>
                    <a:pt x="0" y="1702"/>
                  </a:cubicBezTo>
                  <a:cubicBezTo>
                    <a:pt x="566" y="1567"/>
                    <a:pt x="1155" y="1500"/>
                    <a:pt x="1748" y="1500"/>
                  </a:cubicBezTo>
                  <a:cubicBezTo>
                    <a:pt x="5926" y="1500"/>
                    <a:pt x="10357" y="4813"/>
                    <a:pt x="9025" y="10781"/>
                  </a:cubicBezTo>
                  <a:cubicBezTo>
                    <a:pt x="10139" y="9595"/>
                    <a:pt x="10756" y="8032"/>
                    <a:pt x="10756" y="6409"/>
                  </a:cubicBezTo>
                  <a:cubicBezTo>
                    <a:pt x="10756" y="3864"/>
                    <a:pt x="9246" y="1559"/>
                    <a:pt x="6917" y="535"/>
                  </a:cubicBezTo>
                  <a:cubicBezTo>
                    <a:pt x="6092" y="175"/>
                    <a:pt x="5220" y="0"/>
                    <a:pt x="4355" y="0"/>
                  </a:cubicBezTo>
                  <a:close/>
                </a:path>
              </a:pathLst>
            </a:custGeom>
            <a:solidFill>
              <a:srgbClr val="265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ruits Marketing Campaign by Slidesgo">
  <a:themeElements>
    <a:clrScheme name="Simple Light">
      <a:dk1>
        <a:srgbClr val="5D2912"/>
      </a:dk1>
      <a:lt1>
        <a:srgbClr val="FFFFFF"/>
      </a:lt1>
      <a:dk2>
        <a:srgbClr val="595959"/>
      </a:dk2>
      <a:lt2>
        <a:srgbClr val="EEEEEE"/>
      </a:lt2>
      <a:accent1>
        <a:srgbClr val="F7E7C3"/>
      </a:accent1>
      <a:accent2>
        <a:srgbClr val="FC8C4F"/>
      </a:accent2>
      <a:accent3>
        <a:srgbClr val="E6555C"/>
      </a:accent3>
      <a:accent4>
        <a:srgbClr val="FFC800"/>
      </a:accent4>
      <a:accent5>
        <a:srgbClr val="BD693B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On-screen Show (16:9)</PresentationFormat>
  <Paragraphs>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Saira ExtraCondensed SemiBold</vt:lpstr>
      <vt:lpstr>Muli</vt:lpstr>
      <vt:lpstr>Amatic SC</vt:lpstr>
      <vt:lpstr>Arial</vt:lpstr>
      <vt:lpstr>Fruits Marketing Campaign by Slidesgo</vt:lpstr>
      <vt:lpstr>TUGAS UAS JST</vt:lpstr>
      <vt:lpstr>Anggota</vt:lpstr>
      <vt:lpstr>DATASET</vt:lpstr>
      <vt:lpstr>CNN</vt:lpstr>
      <vt:lpstr>CNN (2)</vt:lpstr>
      <vt:lpstr>vgg16</vt:lpstr>
      <vt:lpstr>Dataset yang digunakan</vt:lpstr>
      <vt:lpstr>LETS GO CODE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UAS JST</dc:title>
  <dc:creator>Martin MS</dc:creator>
  <cp:lastModifiedBy>Martin Mulyo Syahidi</cp:lastModifiedBy>
  <cp:revision>2</cp:revision>
  <dcterms:modified xsi:type="dcterms:W3CDTF">2022-07-10T03:03:37Z</dcterms:modified>
</cp:coreProperties>
</file>